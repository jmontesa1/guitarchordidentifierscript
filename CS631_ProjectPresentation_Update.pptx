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Darker Grotesque" panose="020B0604020202020204" charset="0"/>
      <p:regular r:id="rId16"/>
      <p:bold r:id="rId17"/>
    </p:embeddedFont>
    <p:embeddedFont>
      <p:font typeface="Poiret One" panose="00000500000000000000" pitchFamily="2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8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cc73c8e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cc73c8e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d04da5a8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d04da5a8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d0d51b4c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d0d51b4c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cfabd4ec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cfabd4ec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d482f43d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d482f43d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d482f43d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d482f43d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cfabd4ec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cfabd4ece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d482f43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d482f43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axis = 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axis = frequency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d482f43d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d482f43d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axis = 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axis = frequency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cfabd4e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cfabd4e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cc73c8e3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cc73c8e3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d0d51b4c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d0d51b4c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fabianavinci/guitar-chords-v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wav"/><Relationship Id="rId7" Type="http://schemas.openxmlformats.org/officeDocument/2006/relationships/image" Target="../media/image4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audio" Target="../media/media2.wav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fGynyG0J6d0eXIDUf5pM2XEb33wevUAC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544375" y="1443175"/>
            <a:ext cx="7494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Poiret One"/>
                <a:ea typeface="Poiret One"/>
                <a:cs typeface="Poiret One"/>
                <a:sym typeface="Poiret One"/>
              </a:rPr>
              <a:t>Chord Recognition from Live Audio Stream</a:t>
            </a:r>
            <a:endParaRPr sz="4900">
              <a:latin typeface="Poiret One"/>
              <a:ea typeface="Poiret One"/>
              <a:cs typeface="Poiret One"/>
              <a:sym typeface="Poiret One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607225" y="3495775"/>
            <a:ext cx="73683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3"/>
          <p:cNvSpPr/>
          <p:nvPr/>
        </p:nvSpPr>
        <p:spPr>
          <a:xfrm>
            <a:off x="7961650" y="3151025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7" name="Google Shape;57;p13"/>
          <p:cNvCxnSpPr/>
          <p:nvPr/>
        </p:nvCxnSpPr>
        <p:spPr>
          <a:xfrm>
            <a:off x="8265050" y="754375"/>
            <a:ext cx="0" cy="247380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13"/>
          <p:cNvCxnSpPr/>
          <p:nvPr/>
        </p:nvCxnSpPr>
        <p:spPr>
          <a:xfrm>
            <a:off x="8486850" y="454800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3"/>
          <p:cNvSpPr/>
          <p:nvPr/>
        </p:nvSpPr>
        <p:spPr>
          <a:xfrm rot="5400000" flipH="1">
            <a:off x="8285725" y="434125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60" name="Google Shape;60;p13"/>
          <p:cNvCxnSpPr/>
          <p:nvPr/>
        </p:nvCxnSpPr>
        <p:spPr>
          <a:xfrm>
            <a:off x="809625" y="3569475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/>
          <p:nvPr/>
        </p:nvSpPr>
        <p:spPr>
          <a:xfrm>
            <a:off x="8087325" y="32247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62" name="Google Shape;62;p13"/>
          <p:cNvCxnSpPr/>
          <p:nvPr/>
        </p:nvCxnSpPr>
        <p:spPr>
          <a:xfrm>
            <a:off x="8390725" y="828063"/>
            <a:ext cx="0" cy="25134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3"/>
          <p:cNvCxnSpPr/>
          <p:nvPr/>
        </p:nvCxnSpPr>
        <p:spPr>
          <a:xfrm>
            <a:off x="8609800" y="5284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/>
          <p:nvPr/>
        </p:nvSpPr>
        <p:spPr>
          <a:xfrm rot="5400000" flipH="1">
            <a:off x="8411400" y="5078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3"/>
          <p:cNvSpPr txBox="1"/>
          <p:nvPr/>
        </p:nvSpPr>
        <p:spPr>
          <a:xfrm>
            <a:off x="735975" y="3569475"/>
            <a:ext cx="74391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rPr>
              <a:t>CS 631 Project Presentation</a:t>
            </a:r>
            <a:endParaRPr sz="2000">
              <a:solidFill>
                <a:schemeClr val="dk1"/>
              </a:solidFill>
              <a:latin typeface="Poiret One"/>
              <a:ea typeface="Poiret One"/>
              <a:cs typeface="Poiret One"/>
              <a:sym typeface="Poiret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rPr>
              <a:t>Presented by: John Montesa</a:t>
            </a:r>
            <a:endParaRPr sz="2000">
              <a:solidFill>
                <a:schemeClr val="dk1"/>
              </a:solidFill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4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2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-33675" y="528500"/>
            <a:ext cx="9885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Presentation Overview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Introduction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Related Works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Objective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Datasets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Approach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Demo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Conclusion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Introduction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Recognizing chords in real-time is an important skill for musicians to learn and requires extensive ear-training and music theory knowledge.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Improvisation is important for musicians to express their creativity, but is a difficult technique.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Creating an application that can bridge that gap between difficulty and accessibility can increase musical motivation by making the learning process easier and engaging.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81" name="Google Shape;81;p15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3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6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4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1266825" y="4255275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;p16"/>
          <p:cNvSpPr/>
          <p:nvPr/>
        </p:nvSpPr>
        <p:spPr>
          <a:xfrm>
            <a:off x="8544525" y="39105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92" name="Google Shape;92;p16"/>
          <p:cNvCxnSpPr/>
          <p:nvPr/>
        </p:nvCxnSpPr>
        <p:spPr>
          <a:xfrm>
            <a:off x="8847925" y="828063"/>
            <a:ext cx="0" cy="31905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6"/>
          <p:cNvCxnSpPr/>
          <p:nvPr/>
        </p:nvCxnSpPr>
        <p:spPr>
          <a:xfrm>
            <a:off x="9067000" y="5284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" name="Google Shape;94;p16"/>
          <p:cNvSpPr/>
          <p:nvPr/>
        </p:nvSpPr>
        <p:spPr>
          <a:xfrm rot="5400000" flipH="1">
            <a:off x="8868600" y="5078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95" name="Google Shape;95;p16"/>
          <p:cNvCxnSpPr/>
          <p:nvPr/>
        </p:nvCxnSpPr>
        <p:spPr>
          <a:xfrm>
            <a:off x="-7286687" y="528500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16"/>
          <p:cNvSpPr/>
          <p:nvPr/>
        </p:nvSpPr>
        <p:spPr>
          <a:xfrm rot="10800000" flipH="1">
            <a:off x="-8987" y="5285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97" name="Google Shape;97;p16"/>
          <p:cNvCxnSpPr/>
          <p:nvPr/>
        </p:nvCxnSpPr>
        <p:spPr>
          <a:xfrm rot="10800000">
            <a:off x="294425" y="868750"/>
            <a:ext cx="0" cy="31431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6"/>
          <p:cNvCxnSpPr/>
          <p:nvPr/>
        </p:nvCxnSpPr>
        <p:spPr>
          <a:xfrm>
            <a:off x="513488" y="42552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" name="Google Shape;99;p16"/>
          <p:cNvSpPr/>
          <p:nvPr/>
        </p:nvSpPr>
        <p:spPr>
          <a:xfrm rot="5400000">
            <a:off x="315088" y="39312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00" name="Google Shape;100;p16"/>
          <p:cNvCxnSpPr/>
          <p:nvPr/>
        </p:nvCxnSpPr>
        <p:spPr>
          <a:xfrm rot="10800000">
            <a:off x="2322400" y="4073700"/>
            <a:ext cx="0" cy="1761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6"/>
          <p:cNvCxnSpPr/>
          <p:nvPr/>
        </p:nvCxnSpPr>
        <p:spPr>
          <a:xfrm rot="10800000">
            <a:off x="6992375" y="4079150"/>
            <a:ext cx="0" cy="1761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675" y="4337887"/>
            <a:ext cx="687452" cy="6874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Related Works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39175" y="950488"/>
            <a:ext cx="3591000" cy="2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Shazam</a:t>
            </a:r>
            <a:endParaRPr sz="2000" b="1" dirty="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 dirty="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Recognizes audio in real time to identify songs</a:t>
            </a:r>
            <a:endParaRPr sz="2000" dirty="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 dirty="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Creates an audio sample and compares that sample to Shazam’s database of audio files, matching frequencies and timings</a:t>
            </a:r>
            <a:endParaRPr sz="2000" dirty="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088138" y="943200"/>
            <a:ext cx="3591000" cy="2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Chordify</a:t>
            </a:r>
            <a:endParaRPr sz="2000" b="1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Detects chords within a uploaded audio sample, such as from YouTube.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Delivers chords for four instruments: Guitar, ukulele, mandolin, and piano.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Teaches chords to beginner players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4">
            <a:alphaModFix/>
          </a:blip>
          <a:srcRect l="13083" t="24822" r="13618" b="24488"/>
          <a:stretch/>
        </p:blipFill>
        <p:spPr>
          <a:xfrm>
            <a:off x="5909650" y="4326000"/>
            <a:ext cx="2165449" cy="7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Objective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Create a script that recognizes chords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User Goals: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Make it easier for musicians to identify chords in a song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Inspire musicians to play together and learn improvisation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Motivate players to learn by ear and strengthen valuable skills for musicians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System Goals: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Recognize guitar chords in real time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Identify chords with accuracy and low latency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5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15" name="Google Shape;115;p17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18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6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22" name="Google Shape;122;p18"/>
          <p:cNvCxnSpPr/>
          <p:nvPr/>
        </p:nvCxnSpPr>
        <p:spPr>
          <a:xfrm>
            <a:off x="1266825" y="4941075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8"/>
          <p:cNvSpPr/>
          <p:nvPr/>
        </p:nvSpPr>
        <p:spPr>
          <a:xfrm>
            <a:off x="8544525" y="45963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24" name="Google Shape;124;p18"/>
          <p:cNvCxnSpPr/>
          <p:nvPr/>
        </p:nvCxnSpPr>
        <p:spPr>
          <a:xfrm>
            <a:off x="8847925" y="828063"/>
            <a:ext cx="0" cy="38106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9067000" y="5284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8"/>
          <p:cNvSpPr/>
          <p:nvPr/>
        </p:nvSpPr>
        <p:spPr>
          <a:xfrm rot="5400000" flipH="1">
            <a:off x="8868600" y="5078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27" name="Google Shape;127;p18"/>
          <p:cNvCxnSpPr/>
          <p:nvPr/>
        </p:nvCxnSpPr>
        <p:spPr>
          <a:xfrm>
            <a:off x="-7286687" y="528500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18"/>
          <p:cNvSpPr/>
          <p:nvPr/>
        </p:nvSpPr>
        <p:spPr>
          <a:xfrm rot="10800000" flipH="1">
            <a:off x="-8987" y="5285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29" name="Google Shape;129;p18"/>
          <p:cNvCxnSpPr/>
          <p:nvPr/>
        </p:nvCxnSpPr>
        <p:spPr>
          <a:xfrm rot="10800000">
            <a:off x="294425" y="868525"/>
            <a:ext cx="0" cy="38007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513488" y="49410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18"/>
          <p:cNvSpPr/>
          <p:nvPr/>
        </p:nvSpPr>
        <p:spPr>
          <a:xfrm rot="5400000">
            <a:off x="315088" y="46170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Google Shape;132;p18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Datasets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700" y="1278783"/>
            <a:ext cx="7905350" cy="311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Datasets (cont.)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GUITAR CHORDS V3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8 chords: Am, Bb, Bdim, C, Dm, Em, F, G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Varying guitar types, recording devices, volumes, techniques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Custom dataset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Featuring chord variations and more chords (B, Cm, D)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Recorded with integrated laptop microphone and guitars used for live demonstration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40" name="Google Shape;140;p19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19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7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42" name="Google Shape;142;p19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Approach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Train a machine learning algorithm to identify chords based on various sound files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Utilize two datasets of guitar chords: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"/>
              <a:buChar char="-"/>
            </a:pPr>
            <a:r>
              <a:rPr lang="en" sz="1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GUITAR CHORDS V3 (</a:t>
            </a:r>
            <a:r>
              <a:rPr lang="en" sz="18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https://www.kaggle.com/datasets/fabianavinci/guitar-chords-v3</a:t>
            </a:r>
            <a:r>
              <a:rPr lang="en" sz="1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)</a:t>
            </a:r>
            <a:endParaRPr sz="18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"/>
              <a:buChar char="-"/>
            </a:pPr>
            <a:r>
              <a:rPr lang="en" sz="1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Custom dataset</a:t>
            </a:r>
            <a:endParaRPr sz="18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Python to create a script that will live stream audio from a device and detect what guitar chord is heard.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Hardware: Personal laptop with integrated microphone 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49" name="Google Shape;149;p20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8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51" name="Google Shape;151;p20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Approach (cont.)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67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Using a convolutional neural network (CNN), analyze each audio in Spectrogram format.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Google Shape;159;p21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9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60" name="Google Shape;160;p21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1"/>
          <p:cNvSpPr txBox="1"/>
          <p:nvPr/>
        </p:nvSpPr>
        <p:spPr>
          <a:xfrm>
            <a:off x="123200" y="2355000"/>
            <a:ext cx="2870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G_Classic_Miguel_1.wav</a:t>
            </a:r>
            <a:endParaRPr sz="18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3399800" y="3961313"/>
            <a:ext cx="2870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G_Classic_Miguel_4.wav</a:t>
            </a:r>
            <a:endParaRPr sz="18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163" name="Google Shape;163;p21" title="66161743-c7bf-41f5-8062-45dc5f5a519b.png"/>
          <p:cNvPicPr preferRelativeResize="0"/>
          <p:nvPr/>
        </p:nvPicPr>
        <p:blipFill rotWithShape="1">
          <a:blip r:embed="rId7">
            <a:alphaModFix/>
          </a:blip>
          <a:srcRect r="18012"/>
          <a:stretch/>
        </p:blipFill>
        <p:spPr>
          <a:xfrm>
            <a:off x="6633225" y="3423872"/>
            <a:ext cx="2289960" cy="157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f8c320e4-62e1-45b5-8667-96e63726e983.png"/>
          <p:cNvPicPr preferRelativeResize="0"/>
          <p:nvPr/>
        </p:nvPicPr>
        <p:blipFill rotWithShape="1">
          <a:blip r:embed="rId8">
            <a:alphaModFix/>
          </a:blip>
          <a:srcRect l="-5137" r="22805" b="4095"/>
          <a:stretch/>
        </p:blipFill>
        <p:spPr>
          <a:xfrm>
            <a:off x="3248850" y="1818287"/>
            <a:ext cx="2397700" cy="157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1"/>
          <p:cNvCxnSpPr>
            <a:cxnSpLocks/>
          </p:cNvCxnSpPr>
          <p:nvPr/>
        </p:nvCxnSpPr>
        <p:spPr>
          <a:xfrm>
            <a:off x="2545175" y="2603825"/>
            <a:ext cx="8546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21"/>
          <p:cNvCxnSpPr>
            <a:cxnSpLocks/>
            <a:endCxn id="163" idx="1"/>
          </p:cNvCxnSpPr>
          <p:nvPr/>
        </p:nvCxnSpPr>
        <p:spPr>
          <a:xfrm>
            <a:off x="5857725" y="4209413"/>
            <a:ext cx="77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" name="G_ClassicA_Miguel_1">
            <a:hlinkClick r:id="" action="ppaction://media"/>
            <a:extLst>
              <a:ext uri="{FF2B5EF4-FFF2-40B4-BE49-F238E27FC236}">
                <a16:creationId xmlns:a16="http://schemas.microsoft.com/office/drawing/2014/main" id="{4257513E-6901-2CF9-2172-A5DCDF27BA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301616" y="2460542"/>
            <a:ext cx="286565" cy="286565"/>
          </a:xfrm>
          <a:prstGeom prst="rect">
            <a:avLst/>
          </a:prstGeom>
        </p:spPr>
      </p:pic>
      <p:pic>
        <p:nvPicPr>
          <p:cNvPr id="4" name="G_Acustic_Miguel_4">
            <a:hlinkClick r:id="" action="ppaction://media"/>
            <a:extLst>
              <a:ext uri="{FF2B5EF4-FFF2-40B4-BE49-F238E27FC236}">
                <a16:creationId xmlns:a16="http://schemas.microsoft.com/office/drawing/2014/main" id="{3CD87518-EA41-B1D0-C61F-CD19E5F6EFD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12033" y="4057969"/>
            <a:ext cx="302884" cy="3028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1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9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2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2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10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75" name="Google Shape;175;p22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2" title="66161743-c7bf-41f5-8062-45dc5f5a519b.png"/>
          <p:cNvPicPr preferRelativeResize="0"/>
          <p:nvPr/>
        </p:nvPicPr>
        <p:blipFill rotWithShape="1">
          <a:blip r:embed="rId3">
            <a:alphaModFix/>
          </a:blip>
          <a:srcRect r="18012"/>
          <a:stretch/>
        </p:blipFill>
        <p:spPr>
          <a:xfrm>
            <a:off x="976061" y="1134201"/>
            <a:ext cx="5213972" cy="357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 title="f8c320e4-62e1-45b5-8667-96e63726e983.png"/>
          <p:cNvPicPr preferRelativeResize="0"/>
          <p:nvPr/>
        </p:nvPicPr>
        <p:blipFill rotWithShape="1">
          <a:blip r:embed="rId4">
            <a:alphaModFix amt="40000"/>
          </a:blip>
          <a:srcRect l="-5137" r="22805" b="4095"/>
          <a:stretch/>
        </p:blipFill>
        <p:spPr>
          <a:xfrm>
            <a:off x="2708710" y="1134200"/>
            <a:ext cx="5459228" cy="357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23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3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11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184" name="Google Shape;184;p23"/>
          <p:cNvCxnSpPr/>
          <p:nvPr/>
        </p:nvCxnSpPr>
        <p:spPr>
          <a:xfrm>
            <a:off x="1266825" y="4255275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" name="Google Shape;185;p23"/>
          <p:cNvSpPr/>
          <p:nvPr/>
        </p:nvSpPr>
        <p:spPr>
          <a:xfrm>
            <a:off x="8544525" y="39105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86" name="Google Shape;186;p23"/>
          <p:cNvCxnSpPr/>
          <p:nvPr/>
        </p:nvCxnSpPr>
        <p:spPr>
          <a:xfrm>
            <a:off x="8847925" y="828063"/>
            <a:ext cx="0" cy="31905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3"/>
          <p:cNvCxnSpPr/>
          <p:nvPr/>
        </p:nvCxnSpPr>
        <p:spPr>
          <a:xfrm>
            <a:off x="9067000" y="5284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3"/>
          <p:cNvSpPr/>
          <p:nvPr/>
        </p:nvSpPr>
        <p:spPr>
          <a:xfrm rot="5400000" flipH="1">
            <a:off x="8868600" y="5078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89" name="Google Shape;189;p23"/>
          <p:cNvCxnSpPr/>
          <p:nvPr/>
        </p:nvCxnSpPr>
        <p:spPr>
          <a:xfrm>
            <a:off x="-7286687" y="528500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3"/>
          <p:cNvSpPr/>
          <p:nvPr/>
        </p:nvSpPr>
        <p:spPr>
          <a:xfrm rot="10800000" flipH="1">
            <a:off x="-8987" y="5285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91" name="Google Shape;191;p23"/>
          <p:cNvCxnSpPr/>
          <p:nvPr/>
        </p:nvCxnSpPr>
        <p:spPr>
          <a:xfrm rot="10800000">
            <a:off x="294425" y="868750"/>
            <a:ext cx="0" cy="31431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3"/>
          <p:cNvCxnSpPr/>
          <p:nvPr/>
        </p:nvCxnSpPr>
        <p:spPr>
          <a:xfrm>
            <a:off x="513488" y="4255288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23"/>
          <p:cNvSpPr/>
          <p:nvPr/>
        </p:nvSpPr>
        <p:spPr>
          <a:xfrm rot="5400000">
            <a:off x="315088" y="39312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Google Shape;194;p23"/>
          <p:cNvSpPr txBox="1">
            <a:spLocks noGrp="1"/>
          </p:cNvSpPr>
          <p:nvPr>
            <p:ph type="ctrTitle" idx="4294967295"/>
          </p:nvPr>
        </p:nvSpPr>
        <p:spPr>
          <a:xfrm>
            <a:off x="311708" y="4576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Poiret One"/>
                <a:ea typeface="Poiret One"/>
                <a:cs typeface="Poiret One"/>
                <a:sym typeface="Poiret One"/>
              </a:rPr>
              <a:t>Demo</a:t>
            </a:r>
            <a:endParaRPr sz="46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2392325" y="1816675"/>
            <a:ext cx="4807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23"/>
          <p:cNvSpPr txBox="1">
            <a:spLocks noGrp="1"/>
          </p:cNvSpPr>
          <p:nvPr>
            <p:ph type="ctrTitle" idx="4294967295"/>
          </p:nvPr>
        </p:nvSpPr>
        <p:spPr>
          <a:xfrm>
            <a:off x="367083" y="18700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latin typeface="Poiret One"/>
                <a:ea typeface="Poiret One"/>
                <a:cs typeface="Poiret One"/>
                <a:sym typeface="Poiret One"/>
                <a:hlinkClick r:id="rId3"/>
              </a:rPr>
              <a:t>https://drive.google.com/drive/folders/1fGynyG0J6d0eXIDUf5pM2XEb33wevUAC?usp=sharing</a:t>
            </a:r>
            <a:endParaRPr sz="2100">
              <a:latin typeface="Poiret One"/>
              <a:ea typeface="Poiret One"/>
              <a:cs typeface="Poiret One"/>
              <a:sym typeface="Poiret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>
                <a:latin typeface="Darker Grotesque"/>
                <a:ea typeface="Darker Grotesque"/>
                <a:cs typeface="Darker Grotesque"/>
                <a:sym typeface="Darker Grotesque"/>
              </a:rPr>
              <a:t>Conclusion &amp; Future Works</a:t>
            </a:r>
            <a:endParaRPr sz="292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Successfully able to recognize chords from a guitar accurately and in a timely fashion.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Limitations &amp; Future Work: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Mobile and web versions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Script is limited to guitar chord recognition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Ability to detect chord variation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Develop into full software with user interface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arker Grotesque"/>
              <a:buChar char="-"/>
            </a:pPr>
            <a:r>
              <a:rPr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Encoding chords into functions</a:t>
            </a:r>
            <a:endParaRPr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203" name="Google Shape;203;p24"/>
          <p:cNvCxnSpPr/>
          <p:nvPr/>
        </p:nvCxnSpPr>
        <p:spPr>
          <a:xfrm>
            <a:off x="-139175" y="457675"/>
            <a:ext cx="95331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8548658" y="9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1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12</a:t>
            </a:fld>
            <a:endParaRPr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>
            <a:off x="-381800" y="528488"/>
            <a:ext cx="102330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ctrTitle"/>
          </p:nvPr>
        </p:nvSpPr>
        <p:spPr>
          <a:xfrm>
            <a:off x="1048808" y="16216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0">
                <a:latin typeface="Poiret One"/>
                <a:ea typeface="Poiret One"/>
                <a:cs typeface="Poiret One"/>
                <a:sym typeface="Poiret One"/>
              </a:rPr>
              <a:t>Questions?</a:t>
            </a:r>
            <a:endParaRPr sz="12500">
              <a:latin typeface="Poiret One"/>
              <a:ea typeface="Poiret One"/>
              <a:cs typeface="Poiret One"/>
              <a:sym typeface="Poiret One"/>
            </a:endParaRPr>
          </a:p>
        </p:txBody>
      </p:sp>
      <p:cxnSp>
        <p:nvCxnSpPr>
          <p:cNvPr id="211" name="Google Shape;211;p25"/>
          <p:cNvCxnSpPr/>
          <p:nvPr/>
        </p:nvCxnSpPr>
        <p:spPr>
          <a:xfrm>
            <a:off x="-6784175" y="528500"/>
            <a:ext cx="73683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5"/>
          <p:cNvSpPr/>
          <p:nvPr/>
        </p:nvSpPr>
        <p:spPr>
          <a:xfrm rot="10800000" flipH="1">
            <a:off x="570250" y="528500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213" name="Google Shape;213;p25"/>
          <p:cNvCxnSpPr/>
          <p:nvPr/>
        </p:nvCxnSpPr>
        <p:spPr>
          <a:xfrm rot="10800000">
            <a:off x="873650" y="796100"/>
            <a:ext cx="0" cy="247380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5"/>
          <p:cNvCxnSpPr/>
          <p:nvPr/>
        </p:nvCxnSpPr>
        <p:spPr>
          <a:xfrm>
            <a:off x="1095450" y="3569475"/>
            <a:ext cx="6807300" cy="0"/>
          </a:xfrm>
          <a:prstGeom prst="straightConnector1">
            <a:avLst/>
          </a:pr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5"/>
          <p:cNvSpPr/>
          <p:nvPr/>
        </p:nvSpPr>
        <p:spPr>
          <a:xfrm rot="5400000">
            <a:off x="894325" y="3245400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A9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216" name="Google Shape;216;p25"/>
          <p:cNvCxnSpPr/>
          <p:nvPr/>
        </p:nvCxnSpPr>
        <p:spPr>
          <a:xfrm>
            <a:off x="-6581775" y="454800"/>
            <a:ext cx="72918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Google Shape;217;p25"/>
          <p:cNvSpPr/>
          <p:nvPr/>
        </p:nvSpPr>
        <p:spPr>
          <a:xfrm rot="10800000" flipH="1">
            <a:off x="695925" y="4548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218" name="Google Shape;218;p25"/>
          <p:cNvCxnSpPr/>
          <p:nvPr/>
        </p:nvCxnSpPr>
        <p:spPr>
          <a:xfrm rot="10800000">
            <a:off x="999325" y="682813"/>
            <a:ext cx="0" cy="251340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5"/>
          <p:cNvCxnSpPr/>
          <p:nvPr/>
        </p:nvCxnSpPr>
        <p:spPr>
          <a:xfrm>
            <a:off x="1218400" y="3495788"/>
            <a:ext cx="7189200" cy="0"/>
          </a:xfrm>
          <a:prstGeom prst="straightConnector1">
            <a:avLst/>
          </a:pr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5"/>
          <p:cNvSpPr/>
          <p:nvPr/>
        </p:nvSpPr>
        <p:spPr>
          <a:xfrm rot="5400000">
            <a:off x="1020000" y="3171713"/>
            <a:ext cx="303400" cy="344750"/>
          </a:xfrm>
          <a:custGeom>
            <a:avLst/>
            <a:gdLst/>
            <a:ahLst/>
            <a:cxnLst/>
            <a:rect l="l" t="t" r="r" b="b"/>
            <a:pathLst>
              <a:path w="12136" h="13790" extrusionOk="0">
                <a:moveTo>
                  <a:pt x="0" y="13790"/>
                </a:moveTo>
                <a:cubicBezTo>
                  <a:pt x="977" y="13712"/>
                  <a:pt x="4158" y="13755"/>
                  <a:pt x="5860" y="13320"/>
                </a:cubicBezTo>
                <a:cubicBezTo>
                  <a:pt x="7563" y="12885"/>
                  <a:pt x="9203" y="12234"/>
                  <a:pt x="10215" y="11181"/>
                </a:cubicBezTo>
                <a:cubicBezTo>
                  <a:pt x="11227" y="10129"/>
                  <a:pt x="11612" y="8869"/>
                  <a:pt x="11930" y="7005"/>
                </a:cubicBezTo>
                <a:cubicBezTo>
                  <a:pt x="12249" y="5142"/>
                  <a:pt x="12093" y="1168"/>
                  <a:pt x="12126" y="0"/>
                </a:cubicBezTo>
              </a:path>
            </a:pathLst>
          </a:custGeom>
          <a:noFill/>
          <a:ln w="28575" cap="flat" cmpd="sng">
            <a:solidFill>
              <a:srgbClr val="5A984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476</Words>
  <Application>Microsoft Office PowerPoint</Application>
  <PresentationFormat>On-screen Show (16:9)</PresentationFormat>
  <Paragraphs>78</Paragraphs>
  <Slides>13</Slides>
  <Notes>13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Darker Grotesque</vt:lpstr>
      <vt:lpstr>Arial</vt:lpstr>
      <vt:lpstr>Poiret One</vt:lpstr>
      <vt:lpstr>Simple Light</vt:lpstr>
      <vt:lpstr>Chord Recognition from Live Audio Stream</vt:lpstr>
      <vt:lpstr>Presentation Overview</vt:lpstr>
      <vt:lpstr>Introduction</vt:lpstr>
      <vt:lpstr>Related Works</vt:lpstr>
      <vt:lpstr>Objective</vt:lpstr>
      <vt:lpstr>Datasets</vt:lpstr>
      <vt:lpstr>Datasets (cont.)</vt:lpstr>
      <vt:lpstr>Approach</vt:lpstr>
      <vt:lpstr>Approach (cont.)</vt:lpstr>
      <vt:lpstr>PowerPoint Presentation</vt:lpstr>
      <vt:lpstr>Demo</vt:lpstr>
      <vt:lpstr>Conclusion &amp; Future Works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 Montesa</dc:creator>
  <cp:lastModifiedBy>John Montesa</cp:lastModifiedBy>
  <cp:revision>2</cp:revision>
  <dcterms:modified xsi:type="dcterms:W3CDTF">2025-04-18T03:06:04Z</dcterms:modified>
</cp:coreProperties>
</file>